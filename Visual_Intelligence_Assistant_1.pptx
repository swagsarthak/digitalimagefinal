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D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D7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C8E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train.csv</c:v>
                  </c:pt>
                  <c:pt idx="1">
                    <c:v>val.csv</c:v>
                  </c:pt>
                  <c:pt idx="2">
                    <c:v>vqa_val_full</c:v>
                  </c:pt>
                  <c:pt idx="3">
                    <c:v>vqa_val_test</c:v>
                  </c:pt>
                  <c:pt idx="4">
                    <c:v>vqa_test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32360</c:v>
                </c:pt>
                <c:pt idx="1">
                  <c:v>8095</c:v>
                </c:pt>
                <c:pt idx="2">
                  <c:v>9231</c:v>
                </c:pt>
                <c:pt idx="3">
                  <c:v>500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2E5FA3"/>
              </a:solidFill>
              <a:effectLst/>
            </c:spPr>
          </c:dPt>
          <c:dPt>
            <c:idx val="2"/>
            <c:bubble3D val="0"/>
            <c:spPr>
              <a:solidFill>
                <a:srgbClr val="5B8DD9"/>
              </a:solidFill>
              <a:effectLst/>
            </c:spPr>
          </c:dPt>
          <c:dPt>
            <c:idx val="3"/>
            <c:bubble3D val="0"/>
            <c:spPr>
              <a:solidFill>
                <a:srgbClr val="F0A500"/>
              </a:solidFill>
              <a:effectLst/>
            </c:spPr>
          </c:dPt>
          <c:dPt>
            <c:idx val="4"/>
            <c:bubble3D val="0"/>
            <c:spPr>
              <a:solidFill>
                <a:srgbClr val="BDD7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Count</c:v>
                </c:pt>
                <c:pt idx="1">
                  <c:v>Object</c:v>
                </c:pt>
                <c:pt idx="2">
                  <c:v>Action</c:v>
                </c:pt>
                <c:pt idx="3">
                  <c:v>Scene</c:v>
                </c:pt>
                <c:pt idx="4">
                  <c:v>Color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3214</c:v>
                </c:pt>
                <c:pt idx="1">
                  <c:v>2802</c:v>
                </c:pt>
                <c:pt idx="2">
                  <c:v>1301</c:v>
                </c:pt>
                <c:pt idx="3">
                  <c:v>1146</c:v>
                </c:pt>
                <c:pt idx="4">
                  <c:v>768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BLEU-1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Pretrained (Baseline)</c:v>
                  </c:pt>
                  <c:pt idx="1">
                    <c:v>Fine-tuned (Trained)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0.4345</c:v>
                </c:pt>
                <c:pt idx="1">
                  <c:v>0.4183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BLEU-4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Pretrained (Baseline)</c:v>
                  </c:pt>
                  <c:pt idx="1">
                    <c:v>Fine-tuned (Trained)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0.1166</c:v>
                </c:pt>
                <c:pt idx="1">
                  <c:v>0.1149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Accuracy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vqa_test (50 Qs)</c:v>
                  </c:pt>
                  <c:pt idx="1">
                    <c:v>vqa_val_test (500 Qs)</c:v>
                  </c:pt>
                  <c:pt idx="2">
                    <c:v>vqa_val_full (9,231 Qs)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</c:v>
                </c:pt>
                <c:pt idx="1">
                  <c:v>0.494</c:v>
                </c:pt>
                <c:pt idx="2">
                  <c:v>0.4747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Relaxed Accuracy</c:v>
                </c:pt>
              </c:strCache>
            </c:strRef>
          </c:tx>
          <c:spPr>
            <a:solidFill>
              <a:srgbClr val="5B8D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vqa_test (50 Qs)</c:v>
                  </c:pt>
                  <c:pt idx="1">
                    <c:v>vqa_val_test (500 Qs)</c:v>
                  </c:pt>
                  <c:pt idx="2">
                    <c:v>vqa_val_full (9,231 Qs)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0.588</c:v>
                </c:pt>
                <c:pt idx="2">
                  <c:v>0.5237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Accuracy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Action</c:v>
                  </c:pt>
                  <c:pt idx="1">
                    <c:v>Color</c:v>
                  </c:pt>
                  <c:pt idx="2">
                    <c:v>Count</c:v>
                  </c:pt>
                  <c:pt idx="3">
                    <c:v>Object</c:v>
                  </c:pt>
                  <c:pt idx="4">
                    <c:v>Scene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0.3812</c:v>
                </c:pt>
                <c:pt idx="1">
                  <c:v>0.6927</c:v>
                </c:pt>
                <c:pt idx="2">
                  <c:v>0.6217</c:v>
                </c:pt>
                <c:pt idx="3">
                  <c:v>0.4383</c:v>
                </c:pt>
                <c:pt idx="4">
                  <c:v>0.1117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Relaxed Accuracy</c:v>
                </c:pt>
              </c:strCache>
            </c:strRef>
          </c:tx>
          <c:spPr>
            <a:solidFill>
              <a:srgbClr val="5B8D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Action</c:v>
                  </c:pt>
                  <c:pt idx="1">
                    <c:v>Color</c:v>
                  </c:pt>
                  <c:pt idx="2">
                    <c:v>Count</c:v>
                  </c:pt>
                  <c:pt idx="3">
                    <c:v>Object</c:v>
                  </c:pt>
                  <c:pt idx="4">
                    <c:v>Scene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0.465</c:v>
                </c:pt>
                <c:pt idx="1">
                  <c:v>0.7682</c:v>
                </c:pt>
                <c:pt idx="2">
                  <c:v>0.6217</c:v>
                </c:pt>
                <c:pt idx="3">
                  <c:v>0.4568</c:v>
                </c:pt>
                <c:pt idx="4">
                  <c:v>0.315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480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74F"/>
          </a:solidFill>
          <a:ln w="12700">
            <a:solidFill>
              <a:srgbClr val="1627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2280" y="137160"/>
            <a:ext cx="2194560" cy="219456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502920"/>
            <a:ext cx="1371600" cy="1371600"/>
          </a:xfrm>
          <a:prstGeom prst="ellipse">
            <a:avLst/>
          </a:prstGeom>
          <a:solidFill>
            <a:srgbClr val="5B8DD9">
              <a:alpha val="40000"/>
            </a:srgbClr>
          </a:solidFill>
          <a:ln w="12700">
            <a:solidFill>
              <a:srgbClr val="5B8DD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48640"/>
            <a:ext cx="6217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Intelligence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&amp; Visual Question Answering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29260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  •  Final Project Report  •  May 6,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visual intelligence system that: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Generates natural-language captions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Answers visual questions (VQA)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Detects objects with bounding boxes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Extracts text via OCR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Produces accessibility alt-text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Stores searchable image history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Serves a Streamlit app + FastAPI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2057400"/>
            <a:ext cx="1737360" cy="1005840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0.4183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715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BLEU-1 (Fine-tuned)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2057400"/>
            <a:ext cx="1737360" cy="1005840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47.47%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2715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Exact Accuracy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3246120"/>
            <a:ext cx="1737360" cy="1005840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337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3904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Relaxed 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3246120"/>
            <a:ext cx="1737360" cy="1005840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3337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9,231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3904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Evaluated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Flickr-Style Caption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/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data/train.csv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data/val.csv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data/vqa_val_full.csv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data/vqa_val_test.csv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data/vqa_test.csv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074920" y="1371600"/>
          <a:ext cx="3749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5074920" y="4754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Dataset Split Sizes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Question Type Distribution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417320"/>
            <a:ext cx="91440" cy="9875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20640" y="1417320"/>
            <a:ext cx="1783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4904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3,214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12080" y="1947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 34.8%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95160" y="1417320"/>
            <a:ext cx="91440" cy="9875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86600" y="1417320"/>
            <a:ext cx="1783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14904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78040" y="1947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30.4%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0" y="2587752"/>
            <a:ext cx="91440" cy="987552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2587752"/>
            <a:ext cx="1783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212080" y="266090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212080" y="3118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14.1%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95160" y="2587752"/>
            <a:ext cx="91440" cy="9875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86600" y="2587752"/>
            <a:ext cx="1783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178040" y="266090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78040" y="3118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 12.4%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0" y="3758184"/>
            <a:ext cx="91440" cy="987552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20640" y="3758184"/>
            <a:ext cx="1783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212080" y="383133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212080" y="4288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 8.3%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9,231 pseudo-VQA questions generated from validation captions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1965960" cy="91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27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Captioner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captioner.py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fine-tuned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463040"/>
            <a:ext cx="1965960" cy="914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627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VQA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78608" y="20299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VQA (pretrained)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630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463040"/>
            <a:ext cx="1965960" cy="9144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627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Object Detect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27448" y="20299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(pretrained)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46304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463040"/>
            <a:ext cx="1965960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627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OCR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76288" y="20299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546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54680"/>
            <a:ext cx="1965960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History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9768" y="37216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local store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31546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3154680"/>
            <a:ext cx="19659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App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578608" y="37216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1546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154680"/>
            <a:ext cx="19659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API Service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27448" y="37216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1546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3154680"/>
            <a:ext cx="19659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3319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Evaluation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76288" y="37216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evaluate_*.py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+ VQA Acc.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173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453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1170432" cy="137160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402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→ RGB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44752" y="2651760"/>
            <a:ext cx="118872" cy="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12" name="Shape 10"/>
          <p:cNvSpPr/>
          <p:nvPr/>
        </p:nvSpPr>
        <p:spPr>
          <a:xfrm>
            <a:off x="1801368" y="14173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1453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54480" y="2176272"/>
            <a:ext cx="1170432" cy="137160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2402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74320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BLIP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24912" y="2651760"/>
            <a:ext cx="118872" cy="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3081528" y="14173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18104" y="1453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34640" y="2176272"/>
            <a:ext cx="1170432" cy="137160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2402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274320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bboxes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05072" y="2651760"/>
            <a:ext cx="118872" cy="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24" name="Shape 22"/>
          <p:cNvSpPr/>
          <p:nvPr/>
        </p:nvSpPr>
        <p:spPr>
          <a:xfrm>
            <a:off x="4361688" y="14173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1453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14800" y="2176272"/>
            <a:ext cx="1170432" cy="137160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22402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274320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 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85232" y="2651760"/>
            <a:ext cx="118872" cy="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5641848" y="14173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8424" y="1453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94960" y="2176272"/>
            <a:ext cx="1170432" cy="137160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2402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Alt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74320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+ alt text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65392" y="2651760"/>
            <a:ext cx="118872" cy="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36" name="Shape 34"/>
          <p:cNvSpPr/>
          <p:nvPr/>
        </p:nvSpPr>
        <p:spPr>
          <a:xfrm>
            <a:off x="6922008" y="14173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8584" y="1453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75120" y="2176272"/>
            <a:ext cx="1170432" cy="137160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22402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274320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VQA / OCR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45552" y="2651760"/>
            <a:ext cx="118872" cy="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42" name="Shape 40"/>
          <p:cNvSpPr/>
          <p:nvPr/>
        </p:nvSpPr>
        <p:spPr>
          <a:xfrm>
            <a:off x="8202168" y="14173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38744" y="145389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955280" y="2176272"/>
            <a:ext cx="1170432" cy="137160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2240280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01000" y="274320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search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OCR-aware routing: text-reading questions bypass VQA → served directly from TrOCR output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Methods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44752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40690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581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Captioner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71800" y="1609344"/>
            <a:ext cx="1234440" cy="23774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62763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(Trained)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8056" y="199339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project data. Generates captions via beam search. Baseline: pretrained Salesforce/blip-image-captioning-base.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444752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444752"/>
            <a:ext cx="406908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581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VQA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1609344"/>
            <a:ext cx="1234440" cy="237744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7768" y="162763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(Pretrained)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45736" y="199339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Salesforce/blip-vqa-base. Answers natural-language questions. OCR-aware: text questions routed to TrOCR first.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36392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36392"/>
            <a:ext cx="406908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32735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71800" y="3300984"/>
            <a:ext cx="1234440" cy="237744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0088" y="331927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(Pretrained)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" y="36850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Set-prediction object detection — no anchor boxes. Returns labels, confidence scores, and bounding boxes.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136392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136392"/>
            <a:ext cx="406908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2735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9480" y="3300984"/>
            <a:ext cx="1234440" cy="237744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3319272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(Pre/Fine-tuned)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45736" y="36850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microsoft/trocr-base-printed or local checkpoint. Extracts readable text embedded in images.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42976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91440" cy="5303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9961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BLIP 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7393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Salesforce/blip-image-captioning-base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0" cy="9144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320040" y="2121408"/>
            <a:ext cx="42976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5B8D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91440" cy="530352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5798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train.csv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43230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train_blip.py  •  6,472 images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2670048"/>
            <a:ext cx="0" cy="9144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320040" y="2779776"/>
            <a:ext cx="42976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5B8D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79776"/>
            <a:ext cx="91440" cy="530352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81635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val.csv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09067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1,619 images per epoch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3328416"/>
            <a:ext cx="0" cy="9144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320040" y="3438144"/>
            <a:ext cx="42976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38144"/>
            <a:ext cx="91440" cy="5303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747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checkpoint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74904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checkpoints/blip-captioner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3986784"/>
            <a:ext cx="0" cy="91440"/>
          </a:xfrm>
          <a:prstGeom prst="line">
            <a:avLst/>
          </a:prstGeom>
          <a:noFill/>
          <a:ln w="19050">
            <a:solidFill>
              <a:srgbClr val="5B8DD9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320040" y="4096512"/>
            <a:ext cx="42976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096512"/>
            <a:ext cx="91440" cy="5303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1330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(BLEU-1 / BLEU-4)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40740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evaluate_captions.py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1444752"/>
            <a:ext cx="3749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0" y="15361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TrOCR Fine-tuning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212080" y="1938528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train_ocr.py fine-tunes TrOCR when annotated OCR training data is available. At runtime, checkpoints/trocr-ocr is loaded if present; otherwise microsoft/trocr-base-printed is used as the fallback.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74920" y="3657600"/>
            <a:ext cx="3749040" cy="1188720"/>
          </a:xfrm>
          <a:prstGeom prst="rect">
            <a:avLst/>
          </a:prstGeom>
          <a:solidFill>
            <a:srgbClr val="EEF4FC"/>
          </a:solidFill>
          <a:ln w="12700">
            <a:solidFill>
              <a:srgbClr val="BDD7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1208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12080" y="41148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VQA, DETR, and TrOCR are used as pretrained components. The central trained deliverable is the BLIP captioning checkpoint.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Captioning Results — BLEU Scores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50292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444752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5179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BLEU-1 (Unigram overlap)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8288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0.4345  |  Trained: 0.4183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7840" y="2450592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25237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(Phrase overlap)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28346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0.1166  |  Trained: 0.1149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7840" y="3456432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3529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Multi-reference BLEU-1 (aggregate)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3840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0.7388  |  Trained: —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7840" y="4526280"/>
            <a:ext cx="3246120" cy="384048"/>
          </a:xfrm>
          <a:prstGeom prst="rect">
            <a:avLst/>
          </a:prstGeom>
          <a:solidFill>
            <a:srgbClr val="FFF7E0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87568" y="45445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Fine-tuning did not outperform baseline in current run — limited epochs or strong pretrained generalisation.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9194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BLEU Score Comparison: Pretrained vs. Fine-tuned BLIP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Accuracy — Overall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91947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VQA Accuracy across Test Sets (Pretrained BLIP VQA)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417320"/>
          <a:ext cx="32918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685800"/>
                <a:gridCol w="822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vqa_test.csv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vqa_val_test.csv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vqa_val_full.csv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532120" y="3429000"/>
            <a:ext cx="3291840" cy="1463040"/>
          </a:xfrm>
          <a:prstGeom prst="rect">
            <a:avLst/>
          </a:prstGeom>
          <a:solidFill>
            <a:srgbClr val="EEF4FC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715000" y="3520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715000" y="3867912"/>
            <a:ext cx="3017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decreases slightly as test-set size grows from 50 → 9,231 questions. The full set is a more reliable indicator than the small sanity set.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Accuracy by Question Type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91947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Exact and Relaxed Accuracy by Question Type (vqa_val_full.csv)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23560" y="141732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463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Color (Best)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60720" y="17647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69.3% exact / 76.8% relaxed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60720" y="1975104"/>
            <a:ext cx="2926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identifies colors reliably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23560" y="2313432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23591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Count (Strong)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760720" y="266090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62.2% exact / 62.2% relaxed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60720" y="2871216"/>
            <a:ext cx="2926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answers are consistent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23560" y="3209544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32552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Object / Action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760720" y="355701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~43–44% exact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60720" y="3767328"/>
            <a:ext cx="2926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wording variance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23560" y="4105656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60720" y="41513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Scene (Weak)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760720" y="44531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 exact / 31.5% relaxed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60720" y="4663440"/>
            <a:ext cx="2926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labels vs. broad answers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44752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captioner integrates cleanly as the system's core model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OCR-aware VQA routing improves text-reading question accuracy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&amp; count VQA categories are the strongest performers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overlay boosts interpretability for end users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penalises valid captions using different vocabulary from references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questions need synonym-aware scoring — labels too strict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44752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536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993392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test set is auto-generated from captions, not human-annotated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question scoring penalises semantically-correct broader answers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BLIP did not exceed pretrained baseline in this run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degrades on small, tilted, or low-quality text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limited to pretrained label categories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Multi-transformer inference is slow on CPU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history not suitable for production scale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22860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261872"/>
            <a:ext cx="9144000" cy="4572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4475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536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920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VQA Labels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229514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manually reviewed test set with reliable, human-annotated answers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44475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1536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78608" y="1920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Synonym-aware Scoring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78608" y="229514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synonym matching for scene &amp; action question evaluation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4475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1536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27448" y="1920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Fine-tuning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27448" y="229514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BLIP captioner for more epochs, systematically tune hyperparameters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44475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76288" y="1536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76288" y="19202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76288" y="229514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segmentation for precise object region identification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8211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273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Region Cropping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9768" y="403250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detected text regions before TrOCR for better OCR accuracy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318211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78608" y="3273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78608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History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78608" y="403250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JSON to SQLite for scalable, searchable history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18211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27448" y="3273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27448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27448" y="403250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 with captions, objects, OCR text, and VQA answers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182112"/>
            <a:ext cx="1965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76288" y="3273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76288" y="3657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Models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76288" y="403250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stronger multimodal models with GPU resources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480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74F"/>
          </a:solidFill>
          <a:ln w="12700">
            <a:solidFill>
              <a:srgbClr val="162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200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integrates a fine-tuned BLIP captioning model with pretrained VQA, object detection, OCR, and a full-stack application.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828800" cy="141732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7627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0.4183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(Fine-tuned Captioner)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1828800" cy="141732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17627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0.1149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279806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(Fine-tuned Captioner)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1828800" cy="141732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17627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279806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Exact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103120"/>
            <a:ext cx="1828800" cy="1417320"/>
          </a:xfrm>
          <a:prstGeom prst="rect">
            <a:avLst/>
          </a:prstGeom>
          <a:solidFill>
            <a:srgbClr val="243A64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17627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52.37%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279806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Relaxed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B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&amp; Count were strongest VQA categories  •  Scene questions need synonym-aware scoring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B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did not surpass pretrained baseline in this run — further training recommended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  —  Final Project  •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Intelligence Assistant</dc:title>
  <dc:subject>PptxGenJS Presentation</dc:subject>
  <dc:creator>PptxGenJS</dc:creator>
  <cp:lastModifiedBy>PptxGenJS</cp:lastModifiedBy>
  <cp:revision>1</cp:revision>
  <dcterms:created xsi:type="dcterms:W3CDTF">2026-05-08T16:04:14Z</dcterms:created>
  <dcterms:modified xsi:type="dcterms:W3CDTF">2026-05-08T16:04:14Z</dcterms:modified>
</cp:coreProperties>
</file>